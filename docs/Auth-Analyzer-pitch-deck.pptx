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43"/>
                </a:solidFill>
                <a:latin typeface="+mn-lt"/>
              </a:defRPr>
            </a:pPr>
            <a:r>
              <a:rPr sz="1400" b="0" i="0" u="none" strike="noStrike">
                <a:solidFill>
                  <a:srgbClr val="0F2A43"/>
                </a:solidFill>
                <a:latin typeface="+mn-lt"/>
              </a:rPr>
              <a:t>Sensitivity of 105 connected apps</a:t>
            </a:r>
          </a:p>
        </c:rich>
      </c:tx>
      <c:layout/>
      <c:overlay val="0"/>
    </c:title>
    <c:autoTitleDeleted val="0"/>
    <c:plotArea>
      <c:layout/>
      <c:barChart>
        <c:barDir val="col"/>
        <c:grouping val="clustered"/>
        <c:varyColors val="0"/>
        <c:ser>
          <c:idx val="0"/>
          <c:order val="0"/>
          <c:tx>
            <c:strRef>
              <c:f>Sheet1!$B$1</c:f>
              <c:strCache>
                <c:ptCount val="1"/>
                <c:pt idx="0">
                  <c:v>Apps</c:v>
                </c:pt>
              </c:strCache>
            </c:strRef>
          </c:tx>
          <c:spPr>
            <a:solidFill>
              <a:srgbClr val="C0392B"/>
            </a:solidFill>
            <a:effectLst/>
          </c:spPr>
          <c:invertIfNegative val="0"/>
          <c:dLbls>
            <c:numFmt formatCode="#,##0" sourceLinked="0"/>
            <c:txPr>
              <a:bodyPr/>
              <a:lstStyle/>
              <a:p>
                <a:pPr>
                  <a:defRPr b="0" i="0" strike="noStrike" sz="1400" u="none">
                    <a:solidFill>
                      <a:srgbClr val="1B2431"/>
                    </a:solidFill>
                    <a:latin typeface="+mn-lt"/>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E0A100"/>
              </a:solidFill>
              <a:effectLst/>
            </c:spPr>
          </c:dPt>
          <c:dPt>
            <c:idx val="2"/>
            <c:invertIfNegative val="0"/>
            <c:bubble3D val="0"/>
            <c:spPr>
              <a:solidFill>
                <a:srgbClr val="2E8B57"/>
              </a:solidFill>
              <a:effectLst/>
            </c:spPr>
          </c:dPt>
          <c:cat>
            <c:multiLvlStrRef>
              <c:f>Sheet1!$A$2:$A$4</c:f>
              <c:multiLvlStrCache>
                <c:ptCount val="3"/>
                <c:lvl>
                  <c:pt idx="0">
                    <c:v>High</c:v>
                  </c:pt>
                  <c:pt idx="1">
                    <c:v>Medium</c:v>
                  </c:pt>
                  <c:pt idx="2">
                    <c:v>Low</c:v>
                  </c:pt>
                </c:lvl>
              </c:multiLvlStrCache>
            </c:multiLvlStrRef>
          </c:cat>
          <c:val>
            <c:numRef>
              <c:f>Sheet1!$B$2:$B$4</c:f>
              <c:numCache>
                <c:formatCode>General</c:formatCode>
                <c:ptCount val="3"/>
                <c:pt idx="0">
                  <c:v>8</c:v>
                </c:pt>
                <c:pt idx="1">
                  <c:v>1</c:v>
                </c:pt>
                <c:pt idx="2">
                  <c:v>96</c:v>
                </c:pt>
              </c:numCache>
            </c:numRef>
          </c:val>
        </c:ser>
        <c:dLbls>
          <c:numFmt formatCode="#,##0" sourceLinked="0"/>
          <c:txPr>
            <a:bodyPr/>
            <a:lstStyle/>
            <a:p>
              <a:pPr>
                <a:defRPr b="0" i="0" strike="noStrike" sz="1400" u="none">
                  <a:solidFill>
                    <a:srgbClr val="1B243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1"/>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everyone has apps connected to their Google Account. Which ones can read your email or delete your files? Google's page does not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a real account we scanned. 95 of the 105 only use Sign in with Google. The few that matter are buried.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not data, it is understanding. Google has no export or API for this, so the tool has to read the page in the user's own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structure of every result card. Everything technical, such as the original Google wording and the rule that fired, is in an expandable section, so nothing is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is its own module with no browser or network code in the core. Deterministic rules mean the same evidence always gives the same answer, and every result can be traced to a rule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principles that made the analysis trustworthy. Removal is recommended only when the user says they no longer need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fixtures passed while real pages still exposed four defects. We replayed a real 105-app export through the engine and fixed each one with a regression test. Tests show the rules behave as documented; they do not prove coverage of every Google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extension only requests access to myaccount.google.com. There is no server, so there is nothing to breach.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say what we could not verify. The parser flags unexpected layouts as incomplete, so a Google change makes results less certain, never falsely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principle. Mention the repository and demo links from the submission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2801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475488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Auth Analyzer  |  ExaThon India 2026</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2801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Auth Analyzer</a:t>
            </a:r>
            <a:endParaRPr lang="en-US" sz="4400" dirty="0"/>
          </a:p>
        </p:txBody>
      </p:sp>
      <p:sp>
        <p:nvSpPr>
          <p:cNvPr id="3" name="Tagline"/>
          <p:cNvSpPr txBox="1"/>
          <p:nvPr/>
        </p:nvSpPr>
        <p:spPr>
          <a:xfrm>
            <a:off x="640080" y="2788920"/>
            <a:ext cx="6949440" cy="914400"/>
          </a:xfrm>
          <a:prstGeom prst="rect">
            <a:avLst/>
          </a:prstGeom>
          <a:noFill/>
          <a:ln/>
        </p:spPr>
        <p:txBody>
          <a:bodyPr wrap="square" lIns="0" tIns="0" rIns="0" bIns="0" rtlCol="0" anchor="ctr"/>
          <a:lstStyle/>
          <a:p>
            <a:pPr indent="0" marL="0">
              <a:buNone/>
            </a:pPr>
            <a:r>
              <a:rPr lang="en-US" sz="2000" dirty="0">
                <a:solidFill>
                  <a:schemeClr val="accent6"/>
                </a:solidFill>
                <a:latin typeface="Calibri" pitchFamily="34" charset="0"/>
                <a:ea typeface="Calibri" pitchFamily="34" charset="-122"/>
                <a:cs typeface="Calibri" pitchFamily="34" charset="-120"/>
              </a:rPr>
              <a:t>See what the apps connected to your Google Account can really do, in plain language, without your data leaving your browser.</a:t>
            </a:r>
            <a:endParaRPr lang="en-US" sz="2000" dirty="0"/>
          </a:p>
        </p:txBody>
      </p:sp>
      <p:sp>
        <p:nvSpPr>
          <p:cNvPr id="4" name="Event"/>
          <p:cNvSpPr txBox="1"/>
          <p:nvPr/>
        </p:nvSpPr>
        <p:spPr>
          <a:xfrm>
            <a:off x="640080" y="4206240"/>
            <a:ext cx="4572000" cy="365760"/>
          </a:xfrm>
          <a:prstGeom prst="rect">
            <a:avLst/>
          </a:prstGeom>
          <a:noFill/>
          <a:ln/>
        </p:spPr>
        <p:txBody>
          <a:bodyPr wrap="square" lIns="0" tIns="0" rIns="0" bIns="0" rtlCol="0" anchor="ctr"/>
          <a:lstStyle/>
          <a:p>
            <a:pPr indent="0" marL="0">
              <a:buNone/>
            </a:pPr>
            <a:r>
              <a:rPr lang="en-US" sz="1400" dirty="0">
                <a:solidFill>
                  <a:schemeClr val="bg2"/>
                </a:solidFill>
                <a:latin typeface="Calibri" pitchFamily="34" charset="0"/>
                <a:ea typeface="Calibri" pitchFamily="34" charset="-122"/>
                <a:cs typeface="Calibri" pitchFamily="34" charset="-120"/>
              </a:rPr>
              <a:t>ExaThon India 2026</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Powerful access hides in a long list</a:t>
            </a:r>
            <a:endParaRPr lang="en-US" sz="3000" dirty="0"/>
          </a:p>
        </p:txBody>
      </p:sp>
      <p:sp>
        <p:nvSpPr>
          <p:cNvPr id="3" name="Stat card 1"/>
          <p:cNvSpPr/>
          <p:nvPr/>
        </p:nvSpPr>
        <p:spPr>
          <a:xfrm>
            <a:off x="548640" y="1371600"/>
            <a:ext cx="2560320" cy="2331720"/>
          </a:xfrm>
          <a:prstGeom prst="roundRect">
            <a:avLst>
              <a:gd name="adj" fmla="val 4706"/>
            </a:avLst>
          </a:prstGeom>
          <a:solidFill>
            <a:schemeClr val="bg2"/>
          </a:solidFill>
          <a:ln w="12700">
            <a:solidFill>
              <a:schemeClr val="bg2"/>
            </a:solidFill>
            <a:prstDash val="solid"/>
          </a:ln>
        </p:spPr>
      </p:sp>
      <p:sp>
        <p:nvSpPr>
          <p:cNvPr id="4" name="Stat number 1"/>
          <p:cNvSpPr txBox="1"/>
          <p:nvPr/>
        </p:nvSpPr>
        <p:spPr>
          <a:xfrm>
            <a:off x="777240" y="1508760"/>
            <a:ext cx="2103120" cy="1005840"/>
          </a:xfrm>
          <a:prstGeom prst="rect">
            <a:avLst/>
          </a:prstGeom>
          <a:noFill/>
          <a:ln/>
        </p:spPr>
        <p:txBody>
          <a:bodyPr wrap="square" lIns="0" tIns="0" rIns="0" bIns="0" rtlCol="0" anchor="ctr"/>
          <a:lstStyle/>
          <a:p>
            <a:pPr indent="0" marL="0">
              <a:buNone/>
            </a:pPr>
            <a:r>
              <a:rPr lang="en-US" sz="6400" b="1" dirty="0">
                <a:solidFill>
                  <a:schemeClr val="accent1"/>
                </a:solidFill>
                <a:latin typeface="Cambria" pitchFamily="34" charset="0"/>
                <a:ea typeface="Cambria" pitchFamily="34" charset="-122"/>
                <a:cs typeface="Cambria" pitchFamily="34" charset="-120"/>
              </a:rPr>
              <a:t>105</a:t>
            </a:r>
            <a:endParaRPr lang="en-US" sz="6400" dirty="0"/>
          </a:p>
        </p:txBody>
      </p:sp>
      <p:sp>
        <p:nvSpPr>
          <p:cNvPr id="5" name="Stat label 1"/>
          <p:cNvSpPr txBox="1"/>
          <p:nvPr/>
        </p:nvSpPr>
        <p:spPr>
          <a:xfrm>
            <a:off x="777240" y="2606040"/>
            <a:ext cx="2103120"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apps connected to one real Google Account</a:t>
            </a:r>
            <a:endParaRPr lang="en-US" sz="1400" dirty="0"/>
          </a:p>
        </p:txBody>
      </p:sp>
      <p:sp>
        <p:nvSpPr>
          <p:cNvPr id="6" name="Stat card 2"/>
          <p:cNvSpPr/>
          <p:nvPr/>
        </p:nvSpPr>
        <p:spPr>
          <a:xfrm>
            <a:off x="3291840" y="1371600"/>
            <a:ext cx="2560320" cy="2331720"/>
          </a:xfrm>
          <a:prstGeom prst="roundRect">
            <a:avLst>
              <a:gd name="adj" fmla="val 4706"/>
            </a:avLst>
          </a:prstGeom>
          <a:solidFill>
            <a:schemeClr val="bg2"/>
          </a:solidFill>
          <a:ln w="12700">
            <a:solidFill>
              <a:schemeClr val="bg2"/>
            </a:solidFill>
            <a:prstDash val="solid"/>
          </a:ln>
        </p:spPr>
      </p:sp>
      <p:sp>
        <p:nvSpPr>
          <p:cNvPr id="7" name="Stat number 2"/>
          <p:cNvSpPr txBox="1"/>
          <p:nvPr/>
        </p:nvSpPr>
        <p:spPr>
          <a:xfrm>
            <a:off x="3520440" y="1508760"/>
            <a:ext cx="2103120" cy="1005840"/>
          </a:xfrm>
          <a:prstGeom prst="rect">
            <a:avLst/>
          </a:prstGeom>
          <a:noFill/>
          <a:ln/>
        </p:spPr>
        <p:txBody>
          <a:bodyPr wrap="square" lIns="0" tIns="0" rIns="0" bIns="0" rtlCol="0" anchor="ctr"/>
          <a:lstStyle/>
          <a:p>
            <a:pPr indent="0" marL="0">
              <a:buNone/>
            </a:pPr>
            <a:r>
              <a:rPr lang="en-US" sz="6400" b="1" dirty="0">
                <a:solidFill>
                  <a:schemeClr val="accent2"/>
                </a:solidFill>
                <a:latin typeface="Cambria" pitchFamily="34" charset="0"/>
                <a:ea typeface="Cambria" pitchFamily="34" charset="-122"/>
                <a:cs typeface="Cambria" pitchFamily="34" charset="-120"/>
              </a:rPr>
              <a:t>10</a:t>
            </a:r>
            <a:endParaRPr lang="en-US" sz="6400" dirty="0"/>
          </a:p>
        </p:txBody>
      </p:sp>
      <p:sp>
        <p:nvSpPr>
          <p:cNvPr id="8" name="Stat label 2"/>
          <p:cNvSpPr txBox="1"/>
          <p:nvPr/>
        </p:nvSpPr>
        <p:spPr>
          <a:xfrm>
            <a:off x="3520440" y="2606040"/>
            <a:ext cx="2103120"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could reach account data (Gmail, Drive, Calendar, Cloud)</a:t>
            </a:r>
            <a:endParaRPr lang="en-US" sz="1400" dirty="0"/>
          </a:p>
        </p:txBody>
      </p:sp>
      <p:sp>
        <p:nvSpPr>
          <p:cNvPr id="9" name="Stat card 3"/>
          <p:cNvSpPr/>
          <p:nvPr/>
        </p:nvSpPr>
        <p:spPr>
          <a:xfrm>
            <a:off x="6035040" y="1371600"/>
            <a:ext cx="2560320" cy="2331720"/>
          </a:xfrm>
          <a:prstGeom prst="roundRect">
            <a:avLst>
              <a:gd name="adj" fmla="val 4706"/>
            </a:avLst>
          </a:prstGeom>
          <a:solidFill>
            <a:schemeClr val="bg2"/>
          </a:solidFill>
          <a:ln w="12700">
            <a:solidFill>
              <a:schemeClr val="bg2"/>
            </a:solidFill>
            <a:prstDash val="solid"/>
          </a:ln>
        </p:spPr>
      </p:sp>
      <p:sp>
        <p:nvSpPr>
          <p:cNvPr id="10" name="Stat number 3"/>
          <p:cNvSpPr txBox="1"/>
          <p:nvPr/>
        </p:nvSpPr>
        <p:spPr>
          <a:xfrm>
            <a:off x="6263640" y="1508760"/>
            <a:ext cx="2103120" cy="1005840"/>
          </a:xfrm>
          <a:prstGeom prst="rect">
            <a:avLst/>
          </a:prstGeom>
          <a:noFill/>
          <a:ln/>
        </p:spPr>
        <p:txBody>
          <a:bodyPr wrap="square" lIns="0" tIns="0" rIns="0" bIns="0" rtlCol="0" anchor="ctr"/>
          <a:lstStyle/>
          <a:p>
            <a:pPr indent="0" marL="0">
              <a:buNone/>
            </a:pPr>
            <a:r>
              <a:rPr lang="en-US" sz="6400" b="1" dirty="0">
                <a:solidFill>
                  <a:schemeClr val="accent3"/>
                </a:solidFill>
                <a:latin typeface="Cambria" pitchFamily="34" charset="0"/>
                <a:ea typeface="Cambria" pitchFamily="34" charset="-122"/>
                <a:cs typeface="Cambria" pitchFamily="34" charset="-120"/>
              </a:rPr>
              <a:t>8</a:t>
            </a:r>
            <a:endParaRPr lang="en-US" sz="6400" dirty="0"/>
          </a:p>
        </p:txBody>
      </p:sp>
      <p:sp>
        <p:nvSpPr>
          <p:cNvPr id="11" name="Stat label 3"/>
          <p:cNvSpPr txBox="1"/>
          <p:nvPr/>
        </p:nvSpPr>
        <p:spPr>
          <a:xfrm>
            <a:off x="6263640" y="2606040"/>
            <a:ext cx="2103120"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held high-sensitivity access, such as change and delete rights</a:t>
            </a:r>
            <a:endParaRPr lang="en-US" sz="1400" dirty="0"/>
          </a:p>
        </p:txBody>
      </p:sp>
      <p:sp>
        <p:nvSpPr>
          <p:cNvPr id="12" name="Takeaway"/>
          <p:cNvSpPr txBox="1"/>
          <p:nvPr/>
        </p:nvSpPr>
        <p:spPr>
          <a:xfrm>
            <a:off x="548640" y="4023360"/>
            <a:ext cx="8046720" cy="457200"/>
          </a:xfrm>
          <a:prstGeom prst="rect">
            <a:avLst/>
          </a:prstGeom>
          <a:noFill/>
          <a:ln/>
        </p:spPr>
        <p:txBody>
          <a:bodyPr wrap="square" lIns="0" tIns="0" rIns="0" bIns="0" rtlCol="0" anchor="ctr"/>
          <a:lstStyle/>
          <a:p>
            <a:pPr indent="0" marL="0">
              <a:buNone/>
            </a:pPr>
            <a:r>
              <a:rPr lang="en-US" sz="1800" i="1" dirty="0">
                <a:solidFill>
                  <a:schemeClr val="tx2"/>
                </a:solidFill>
                <a:latin typeface="Calibri" pitchFamily="34" charset="0"/>
                <a:ea typeface="Calibri" pitchFamily="34" charset="-122"/>
                <a:cs typeface="Calibri" pitchFamily="34" charset="-120"/>
              </a:rPr>
              <a:t>Only about 1 in 10 apps matters, and nothing on Google's page tells you which one.</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Google shows the list, not what it means</a:t>
            </a:r>
            <a:endParaRPr lang="en-US" sz="3000" dirty="0"/>
          </a:p>
        </p:txBody>
      </p:sp>
      <p:sp>
        <p:nvSpPr>
          <p:cNvPr id="3" name="Icon circle 1"/>
          <p:cNvSpPr/>
          <p:nvPr/>
        </p:nvSpPr>
        <p:spPr>
          <a:xfrm>
            <a:off x="548640" y="1371600"/>
            <a:ext cx="640080" cy="640080"/>
          </a:xfrm>
          <a:prstGeom prst="ellipse">
            <a:avLst/>
          </a:prstGeom>
          <a:solidFill>
            <a:schemeClr val="accent1"/>
          </a:solidFill>
          <a:ln w="12700">
            <a:solidFill>
              <a:schemeClr val="accent1"/>
            </a:solidFill>
            <a:prstDash val="solid"/>
          </a:ln>
        </p:spPr>
      </p:sp>
      <p:sp>
        <p:nvSpPr>
          <p:cNvPr id="4" name="Circle number 1"/>
          <p:cNvSpPr txBox="1"/>
          <p:nvPr/>
        </p:nvSpPr>
        <p:spPr>
          <a:xfrm>
            <a:off x="548640" y="13716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5" name="Row title 1"/>
          <p:cNvSpPr txBox="1"/>
          <p:nvPr/>
        </p:nvSpPr>
        <p:spPr>
          <a:xfrm>
            <a:off x="1463040" y="1325880"/>
            <a:ext cx="7132320" cy="32004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Technical wording</a:t>
            </a:r>
            <a:endParaRPr lang="en-US" sz="2000" dirty="0"/>
          </a:p>
        </p:txBody>
      </p:sp>
      <p:sp>
        <p:nvSpPr>
          <p:cNvPr id="6" name="Row text 1"/>
          <p:cNvSpPr txBox="1"/>
          <p:nvPr/>
        </p:nvSpPr>
        <p:spPr>
          <a:xfrm>
            <a:off x="1463040" y="1691640"/>
            <a:ext cx="713232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"See, edit, share and permanently delete all the calendars you can access" is hard to weigh at a glance.</a:t>
            </a:r>
            <a:endParaRPr lang="en-US" sz="1400" dirty="0"/>
          </a:p>
        </p:txBody>
      </p:sp>
      <p:sp>
        <p:nvSpPr>
          <p:cNvPr id="7" name="Icon circle 2"/>
          <p:cNvSpPr/>
          <p:nvPr/>
        </p:nvSpPr>
        <p:spPr>
          <a:xfrm>
            <a:off x="548640" y="2395728"/>
            <a:ext cx="640080" cy="640080"/>
          </a:xfrm>
          <a:prstGeom prst="ellipse">
            <a:avLst/>
          </a:prstGeom>
          <a:solidFill>
            <a:schemeClr val="accent1"/>
          </a:solidFill>
          <a:ln w="12700">
            <a:solidFill>
              <a:schemeClr val="accent1"/>
            </a:solidFill>
            <a:prstDash val="solid"/>
          </a:ln>
        </p:spPr>
      </p:sp>
      <p:sp>
        <p:nvSpPr>
          <p:cNvPr id="8" name="Circle number 2"/>
          <p:cNvSpPr txBox="1"/>
          <p:nvPr/>
        </p:nvSpPr>
        <p:spPr>
          <a:xfrm>
            <a:off x="548640" y="2395728"/>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9" name="Row title 2"/>
          <p:cNvSpPr txBox="1"/>
          <p:nvPr/>
        </p:nvSpPr>
        <p:spPr>
          <a:xfrm>
            <a:off x="1463040" y="2350008"/>
            <a:ext cx="7132320" cy="32004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No export, no API</a:t>
            </a:r>
            <a:endParaRPr lang="en-US" sz="2000" dirty="0"/>
          </a:p>
        </p:txBody>
      </p:sp>
      <p:sp>
        <p:nvSpPr>
          <p:cNvPr id="10" name="Row text 2"/>
          <p:cNvSpPr txBox="1"/>
          <p:nvPr/>
        </p:nvSpPr>
        <p:spPr>
          <a:xfrm>
            <a:off x="1463040" y="2715768"/>
            <a:ext cx="713232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Ordinary users cannot list or compare their connected apps programmatically.</a:t>
            </a:r>
            <a:endParaRPr lang="en-US" sz="1400" dirty="0"/>
          </a:p>
        </p:txBody>
      </p:sp>
      <p:sp>
        <p:nvSpPr>
          <p:cNvPr id="11" name="Icon circle 3"/>
          <p:cNvSpPr/>
          <p:nvPr/>
        </p:nvSpPr>
        <p:spPr>
          <a:xfrm>
            <a:off x="548640" y="3419856"/>
            <a:ext cx="640080" cy="640080"/>
          </a:xfrm>
          <a:prstGeom prst="ellipse">
            <a:avLst/>
          </a:prstGeom>
          <a:solidFill>
            <a:schemeClr val="accent1"/>
          </a:solidFill>
          <a:ln w="12700">
            <a:solidFill>
              <a:schemeClr val="accent1"/>
            </a:solidFill>
            <a:prstDash val="solid"/>
          </a:ln>
        </p:spPr>
      </p:sp>
      <p:sp>
        <p:nvSpPr>
          <p:cNvPr id="12" name="Circle number 3"/>
          <p:cNvSpPr txBox="1"/>
          <p:nvPr/>
        </p:nvSpPr>
        <p:spPr>
          <a:xfrm>
            <a:off x="548640" y="3419856"/>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3" name="Row title 3"/>
          <p:cNvSpPr txBox="1"/>
          <p:nvPr/>
        </p:nvSpPr>
        <p:spPr>
          <a:xfrm>
            <a:off x="1463040" y="3374136"/>
            <a:ext cx="7132320" cy="32004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Ignore it, or revoke blindly</a:t>
            </a:r>
            <a:endParaRPr lang="en-US" sz="2000" dirty="0"/>
          </a:p>
        </p:txBody>
      </p:sp>
      <p:sp>
        <p:nvSpPr>
          <p:cNvPr id="14" name="Row text 3"/>
          <p:cNvSpPr txBox="1"/>
          <p:nvPr/>
        </p:nvSpPr>
        <p:spPr>
          <a:xfrm>
            <a:off x="1463040" y="3739896"/>
            <a:ext cx="713232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Without context people either never look, or break tools they still use.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Four short facts per app</a:t>
            </a:r>
            <a:endParaRPr lang="en-US" sz="3000" dirty="0"/>
          </a:p>
        </p:txBody>
      </p:sp>
      <p:sp>
        <p:nvSpPr>
          <p:cNvPr id="3" name="Fact name 1"/>
          <p:cNvSpPr txBox="1"/>
          <p:nvPr/>
        </p:nvSpPr>
        <p:spPr>
          <a:xfrm>
            <a:off x="548640" y="1371600"/>
            <a:ext cx="2651760" cy="32004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Access</a:t>
            </a:r>
            <a:endParaRPr lang="en-US" sz="2000" dirty="0"/>
          </a:p>
        </p:txBody>
      </p:sp>
      <p:sp>
        <p:nvSpPr>
          <p:cNvPr id="4" name="Fact detail 1"/>
          <p:cNvSpPr txBox="1"/>
          <p:nvPr/>
        </p:nvSpPr>
        <p:spPr>
          <a:xfrm>
            <a:off x="548640" y="1700784"/>
            <a:ext cx="2651760" cy="3657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What the app can do</a:t>
            </a:r>
            <a:endParaRPr lang="en-US" sz="1400" dirty="0"/>
          </a:p>
        </p:txBody>
      </p:sp>
      <p:sp>
        <p:nvSpPr>
          <p:cNvPr id="5" name="Fact name 2"/>
          <p:cNvSpPr txBox="1"/>
          <p:nvPr/>
        </p:nvSpPr>
        <p:spPr>
          <a:xfrm>
            <a:off x="548640" y="2148840"/>
            <a:ext cx="2651760" cy="32004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Why it matters</a:t>
            </a:r>
            <a:endParaRPr lang="en-US" sz="2000" dirty="0"/>
          </a:p>
        </p:txBody>
      </p:sp>
      <p:sp>
        <p:nvSpPr>
          <p:cNvPr id="6" name="Fact detail 2"/>
          <p:cNvSpPr txBox="1"/>
          <p:nvPr/>
        </p:nvSpPr>
        <p:spPr>
          <a:xfrm>
            <a:off x="548640" y="2478024"/>
            <a:ext cx="2651760" cy="3657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 sentence of impact</a:t>
            </a:r>
            <a:endParaRPr lang="en-US" sz="1400" dirty="0"/>
          </a:p>
        </p:txBody>
      </p:sp>
      <p:sp>
        <p:nvSpPr>
          <p:cNvPr id="7" name="Fact name 3"/>
          <p:cNvSpPr txBox="1"/>
          <p:nvPr/>
        </p:nvSpPr>
        <p:spPr>
          <a:xfrm>
            <a:off x="548640" y="2926080"/>
            <a:ext cx="2651760" cy="32004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Next step</a:t>
            </a:r>
            <a:endParaRPr lang="en-US" sz="2000" dirty="0"/>
          </a:p>
        </p:txBody>
      </p:sp>
      <p:sp>
        <p:nvSpPr>
          <p:cNvPr id="8" name="Fact detail 3"/>
          <p:cNvSpPr txBox="1"/>
          <p:nvPr/>
        </p:nvSpPr>
        <p:spPr>
          <a:xfrm>
            <a:off x="548640" y="3255264"/>
            <a:ext cx="2651760" cy="3657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 proportionate action</a:t>
            </a:r>
            <a:endParaRPr lang="en-US" sz="1400" dirty="0"/>
          </a:p>
        </p:txBody>
      </p:sp>
      <p:sp>
        <p:nvSpPr>
          <p:cNvPr id="9" name="Fact name 4"/>
          <p:cNvSpPr txBox="1"/>
          <p:nvPr/>
        </p:nvSpPr>
        <p:spPr>
          <a:xfrm>
            <a:off x="548640" y="3703320"/>
            <a:ext cx="2651760" cy="32004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Evidence status</a:t>
            </a:r>
            <a:endParaRPr lang="en-US" sz="2000" dirty="0"/>
          </a:p>
        </p:txBody>
      </p:sp>
      <p:sp>
        <p:nvSpPr>
          <p:cNvPr id="10" name="Fact detail 4"/>
          <p:cNvSpPr txBox="1"/>
          <p:nvPr/>
        </p:nvSpPr>
        <p:spPr>
          <a:xfrm>
            <a:off x="548640" y="4032504"/>
            <a:ext cx="2651760" cy="3657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How well we understood the page</a:t>
            </a:r>
            <a:endParaRPr lang="en-US" sz="1400" dirty="0"/>
          </a:p>
        </p:txBody>
      </p:sp>
      <p:sp>
        <p:nvSpPr>
          <p:cNvPr id="11" name="Example card"/>
          <p:cNvSpPr/>
          <p:nvPr/>
        </p:nvSpPr>
        <p:spPr>
          <a:xfrm>
            <a:off x="3520440" y="1097280"/>
            <a:ext cx="5074920" cy="3429000"/>
          </a:xfrm>
          <a:prstGeom prst="roundRect">
            <a:avLst>
              <a:gd name="adj" fmla="val 2667"/>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Sensitivity pill"/>
          <p:cNvSpPr/>
          <p:nvPr/>
        </p:nvSpPr>
        <p:spPr>
          <a:xfrm>
            <a:off x="3703320" y="1234440"/>
            <a:ext cx="1463040" cy="274320"/>
          </a:xfrm>
          <a:prstGeom prst="roundRect">
            <a:avLst>
              <a:gd name="adj" fmla="val 50000"/>
            </a:avLst>
          </a:prstGeom>
          <a:solidFill>
            <a:schemeClr val="accent3"/>
          </a:solidFill>
          <a:ln w="12700">
            <a:solidFill>
              <a:schemeClr val="accent3"/>
            </a:solidFill>
            <a:prstDash val="solid"/>
          </a:ln>
        </p:spPr>
      </p:sp>
      <p:sp>
        <p:nvSpPr>
          <p:cNvPr id="13" name="Sensitivity pill text"/>
          <p:cNvSpPr txBox="1"/>
          <p:nvPr/>
        </p:nvSpPr>
        <p:spPr>
          <a:xfrm>
            <a:off x="3703320" y="1234440"/>
            <a:ext cx="1463040" cy="274320"/>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High sensitivity</a:t>
            </a:r>
            <a:endParaRPr lang="en-US" sz="1100" dirty="0"/>
          </a:p>
        </p:txBody>
      </p:sp>
      <p:sp>
        <p:nvSpPr>
          <p:cNvPr id="14" name="Example app name"/>
          <p:cNvSpPr txBox="1"/>
          <p:nvPr/>
        </p:nvSpPr>
        <p:spPr>
          <a:xfrm>
            <a:off x="5349240" y="1234440"/>
            <a:ext cx="3108960" cy="2743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Example Mail Tool</a:t>
            </a:r>
            <a:endParaRPr lang="en-US" sz="1600" dirty="0"/>
          </a:p>
        </p:txBody>
      </p:sp>
      <p:sp>
        <p:nvSpPr>
          <p:cNvPr id="15" name="Card label 1"/>
          <p:cNvSpPr txBox="1"/>
          <p:nvPr/>
        </p:nvSpPr>
        <p:spPr>
          <a:xfrm>
            <a:off x="3703320" y="1645920"/>
            <a:ext cx="1097280" cy="274320"/>
          </a:xfrm>
          <a:prstGeom prst="rect">
            <a:avLst/>
          </a:prstGeom>
          <a:noFill/>
          <a:ln/>
        </p:spPr>
        <p:txBody>
          <a:bodyPr wrap="square" lIns="0" tIns="0" rIns="0" bIns="0" rtlCol="0" anchor="t"/>
          <a:lstStyle/>
          <a:p>
            <a:pPr indent="0" marL="0">
              <a:buNone/>
            </a:pPr>
            <a:r>
              <a:rPr lang="en-US" sz="1100" b="1" dirty="0">
                <a:solidFill>
                  <a:schemeClr val="accent5"/>
                </a:solidFill>
                <a:latin typeface="Calibri" pitchFamily="34" charset="0"/>
                <a:ea typeface="Calibri" pitchFamily="34" charset="-122"/>
                <a:cs typeface="Calibri" pitchFamily="34" charset="-120"/>
              </a:rPr>
              <a:t>Access</a:t>
            </a:r>
            <a:endParaRPr lang="en-US" sz="1100" dirty="0"/>
          </a:p>
        </p:txBody>
      </p:sp>
      <p:sp>
        <p:nvSpPr>
          <p:cNvPr id="16" name="Card value 1"/>
          <p:cNvSpPr txBox="1"/>
          <p:nvPr/>
        </p:nvSpPr>
        <p:spPr>
          <a:xfrm>
            <a:off x="4846320" y="1645920"/>
            <a:ext cx="361188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Read and change your Gmail messages and send email as you</a:t>
            </a:r>
            <a:endParaRPr lang="en-US" sz="1200" dirty="0"/>
          </a:p>
        </p:txBody>
      </p:sp>
      <p:sp>
        <p:nvSpPr>
          <p:cNvPr id="17" name="Card label 2"/>
          <p:cNvSpPr txBox="1"/>
          <p:nvPr/>
        </p:nvSpPr>
        <p:spPr>
          <a:xfrm>
            <a:off x="3703320" y="2103120"/>
            <a:ext cx="1097280" cy="274320"/>
          </a:xfrm>
          <a:prstGeom prst="rect">
            <a:avLst/>
          </a:prstGeom>
          <a:noFill/>
          <a:ln/>
        </p:spPr>
        <p:txBody>
          <a:bodyPr wrap="square" lIns="0" tIns="0" rIns="0" bIns="0" rtlCol="0" anchor="t"/>
          <a:lstStyle/>
          <a:p>
            <a:pPr indent="0" marL="0">
              <a:buNone/>
            </a:pPr>
            <a:r>
              <a:rPr lang="en-US" sz="1100" b="1" dirty="0">
                <a:solidFill>
                  <a:schemeClr val="accent5"/>
                </a:solidFill>
                <a:latin typeface="Calibri" pitchFamily="34" charset="0"/>
                <a:ea typeface="Calibri" pitchFamily="34" charset="-122"/>
                <a:cs typeface="Calibri" pitchFamily="34" charset="-120"/>
              </a:rPr>
              <a:t>Why it matters</a:t>
            </a:r>
            <a:endParaRPr lang="en-US" sz="1100" dirty="0"/>
          </a:p>
        </p:txBody>
      </p:sp>
      <p:sp>
        <p:nvSpPr>
          <p:cNvPr id="18" name="Card value 2"/>
          <p:cNvSpPr txBox="1"/>
          <p:nvPr/>
        </p:nvSpPr>
        <p:spPr>
          <a:xfrm>
            <a:off x="4846320" y="2103120"/>
            <a:ext cx="361188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Emails often hold private conversations and account-recovery links, and it can also send messages that appear to come from you.</a:t>
            </a:r>
            <a:endParaRPr lang="en-US" sz="1200" dirty="0"/>
          </a:p>
        </p:txBody>
      </p:sp>
      <p:sp>
        <p:nvSpPr>
          <p:cNvPr id="19" name="Card label 3"/>
          <p:cNvSpPr txBox="1"/>
          <p:nvPr/>
        </p:nvSpPr>
        <p:spPr>
          <a:xfrm>
            <a:off x="3703320" y="2926080"/>
            <a:ext cx="1097280" cy="274320"/>
          </a:xfrm>
          <a:prstGeom prst="rect">
            <a:avLst/>
          </a:prstGeom>
          <a:noFill/>
          <a:ln/>
        </p:spPr>
        <p:txBody>
          <a:bodyPr wrap="square" lIns="0" tIns="0" rIns="0" bIns="0" rtlCol="0" anchor="t"/>
          <a:lstStyle/>
          <a:p>
            <a:pPr indent="0" marL="0">
              <a:buNone/>
            </a:pPr>
            <a:r>
              <a:rPr lang="en-US" sz="1100" b="1" dirty="0">
                <a:solidFill>
                  <a:schemeClr val="accent5"/>
                </a:solidFill>
                <a:latin typeface="Calibri" pitchFamily="34" charset="0"/>
                <a:ea typeface="Calibri" pitchFamily="34" charset="-122"/>
                <a:cs typeface="Calibri" pitchFamily="34" charset="-120"/>
              </a:rPr>
              <a:t>Next step</a:t>
            </a:r>
            <a:endParaRPr lang="en-US" sz="1100" dirty="0"/>
          </a:p>
        </p:txBody>
      </p:sp>
      <p:sp>
        <p:nvSpPr>
          <p:cNvPr id="20" name="Card value 3"/>
          <p:cNvSpPr txBox="1"/>
          <p:nvPr/>
        </p:nvSpPr>
        <p:spPr>
          <a:xfrm>
            <a:off x="4846320" y="2926080"/>
            <a:ext cx="361188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Keep it only if you recognise it and still use it. Otherwise remove its access in Google.</a:t>
            </a:r>
            <a:endParaRPr lang="en-US" sz="1200" dirty="0"/>
          </a:p>
        </p:txBody>
      </p:sp>
      <p:sp>
        <p:nvSpPr>
          <p:cNvPr id="21" name="Card label 4"/>
          <p:cNvSpPr txBox="1"/>
          <p:nvPr/>
        </p:nvSpPr>
        <p:spPr>
          <a:xfrm>
            <a:off x="3703320" y="3611880"/>
            <a:ext cx="1097280" cy="274320"/>
          </a:xfrm>
          <a:prstGeom prst="rect">
            <a:avLst/>
          </a:prstGeom>
          <a:noFill/>
          <a:ln/>
        </p:spPr>
        <p:txBody>
          <a:bodyPr wrap="square" lIns="0" tIns="0" rIns="0" bIns="0" rtlCol="0" anchor="t"/>
          <a:lstStyle/>
          <a:p>
            <a:pPr indent="0" marL="0">
              <a:buNone/>
            </a:pPr>
            <a:r>
              <a:rPr lang="en-US" sz="1100" b="1" dirty="0">
                <a:solidFill>
                  <a:schemeClr val="accent5"/>
                </a:solidFill>
                <a:latin typeface="Calibri" pitchFamily="34" charset="0"/>
                <a:ea typeface="Calibri" pitchFamily="34" charset="-122"/>
                <a:cs typeface="Calibri" pitchFamily="34" charset="-120"/>
              </a:rPr>
              <a:t>Evidence</a:t>
            </a:r>
            <a:endParaRPr lang="en-US" sz="1100" dirty="0"/>
          </a:p>
        </p:txBody>
      </p:sp>
      <p:sp>
        <p:nvSpPr>
          <p:cNvPr id="22" name="Card value 4"/>
          <p:cNvSpPr txBox="1"/>
          <p:nvPr/>
        </p:nvSpPr>
        <p:spPr>
          <a:xfrm>
            <a:off x="4846320" y="3611880"/>
            <a:ext cx="361188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Partly understood: 1 permission is hidden behind a "+1 more" link.</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 pipeline of small, tested steps</a:t>
            </a:r>
            <a:endParaRPr lang="en-US" sz="3000" dirty="0"/>
          </a:p>
        </p:txBody>
      </p:sp>
      <p:sp>
        <p:nvSpPr>
          <p:cNvPr id="3" name="Step box 1"/>
          <p:cNvSpPr/>
          <p:nvPr/>
        </p:nvSpPr>
        <p:spPr>
          <a:xfrm>
            <a:off x="548640" y="1463040"/>
            <a:ext cx="1463040" cy="1828800"/>
          </a:xfrm>
          <a:prstGeom prst="roundRect">
            <a:avLst>
              <a:gd name="adj" fmla="val 6250"/>
            </a:avLst>
          </a:prstGeom>
          <a:solidFill>
            <a:schemeClr val="accent1"/>
          </a:solidFill>
          <a:ln w="12700">
            <a:solidFill>
              <a:schemeClr val="accent1"/>
            </a:solidFill>
            <a:prstDash val="solid"/>
          </a:ln>
        </p:spPr>
      </p:sp>
      <p:sp>
        <p:nvSpPr>
          <p:cNvPr id="4" name="Step number 1"/>
          <p:cNvSpPr txBox="1"/>
          <p:nvPr/>
        </p:nvSpPr>
        <p:spPr>
          <a:xfrm>
            <a:off x="685800" y="1554480"/>
            <a:ext cx="457200" cy="365760"/>
          </a:xfrm>
          <a:prstGeom prst="rect">
            <a:avLst/>
          </a:prstGeom>
          <a:noFill/>
          <a:ln/>
        </p:spPr>
        <p:txBody>
          <a:bodyPr wrap="square" lIns="0" tIns="0" rIns="0" bIns="0" rtlCol="0" anchor="ctr"/>
          <a:lstStyle/>
          <a:p>
            <a:pPr indent="0" marL="0">
              <a:buNone/>
            </a:pPr>
            <a:r>
              <a:rPr lang="en-US" sz="1800" b="1" dirty="0">
                <a:solidFill>
                  <a:schemeClr val="accent6"/>
                </a:solidFill>
                <a:latin typeface="Calibri" pitchFamily="34" charset="0"/>
                <a:ea typeface="Calibri" pitchFamily="34" charset="-122"/>
                <a:cs typeface="Calibri" pitchFamily="34" charset="-120"/>
              </a:rPr>
              <a:t>1</a:t>
            </a:r>
            <a:endParaRPr lang="en-US" sz="1800" dirty="0"/>
          </a:p>
        </p:txBody>
      </p:sp>
      <p:sp>
        <p:nvSpPr>
          <p:cNvPr id="5" name="Step name 1"/>
          <p:cNvSpPr txBox="1"/>
          <p:nvPr/>
        </p:nvSpPr>
        <p:spPr>
          <a:xfrm>
            <a:off x="685800" y="1965960"/>
            <a:ext cx="1188720" cy="36576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Read</a:t>
            </a:r>
            <a:endParaRPr lang="en-US" sz="1800" dirty="0"/>
          </a:p>
        </p:txBody>
      </p:sp>
      <p:sp>
        <p:nvSpPr>
          <p:cNvPr id="6" name="Step detail 1"/>
          <p:cNvSpPr txBox="1"/>
          <p:nvPr/>
        </p:nvSpPr>
        <p:spPr>
          <a:xfrm>
            <a:off x="685800" y="2377440"/>
            <a:ext cx="1188720" cy="82296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headings and lines from the page</a:t>
            </a:r>
            <a:endParaRPr lang="en-US" sz="1200" dirty="0"/>
          </a:p>
        </p:txBody>
      </p:sp>
      <p:sp>
        <p:nvSpPr>
          <p:cNvPr id="7" name="Step box 2"/>
          <p:cNvSpPr/>
          <p:nvPr/>
        </p:nvSpPr>
        <p:spPr>
          <a:xfrm>
            <a:off x="2194560" y="1463040"/>
            <a:ext cx="1463040" cy="1828800"/>
          </a:xfrm>
          <a:prstGeom prst="roundRect">
            <a:avLst>
              <a:gd name="adj" fmla="val 6250"/>
            </a:avLst>
          </a:prstGeom>
          <a:solidFill>
            <a:schemeClr val="accent5"/>
          </a:solidFill>
          <a:ln w="12700">
            <a:solidFill>
              <a:schemeClr val="accent5"/>
            </a:solidFill>
            <a:prstDash val="solid"/>
          </a:ln>
        </p:spPr>
      </p:sp>
      <p:sp>
        <p:nvSpPr>
          <p:cNvPr id="8" name="Step number 2"/>
          <p:cNvSpPr txBox="1"/>
          <p:nvPr/>
        </p:nvSpPr>
        <p:spPr>
          <a:xfrm>
            <a:off x="2331720" y="1554480"/>
            <a:ext cx="457200" cy="365760"/>
          </a:xfrm>
          <a:prstGeom prst="rect">
            <a:avLst/>
          </a:prstGeom>
          <a:noFill/>
          <a:ln/>
        </p:spPr>
        <p:txBody>
          <a:bodyPr wrap="square" lIns="0" tIns="0" rIns="0" bIns="0" rtlCol="0" anchor="ctr"/>
          <a:lstStyle/>
          <a:p>
            <a:pPr indent="0" marL="0">
              <a:buNone/>
            </a:pPr>
            <a:r>
              <a:rPr lang="en-US" sz="1800" b="1" dirty="0">
                <a:solidFill>
                  <a:schemeClr val="accent6"/>
                </a:solidFill>
                <a:latin typeface="Calibri" pitchFamily="34" charset="0"/>
                <a:ea typeface="Calibri" pitchFamily="34" charset="-122"/>
                <a:cs typeface="Calibri" pitchFamily="34" charset="-120"/>
              </a:rPr>
              <a:t>2</a:t>
            </a:r>
            <a:endParaRPr lang="en-US" sz="1800" dirty="0"/>
          </a:p>
        </p:txBody>
      </p:sp>
      <p:sp>
        <p:nvSpPr>
          <p:cNvPr id="9" name="Step name 2"/>
          <p:cNvSpPr txBox="1"/>
          <p:nvPr/>
        </p:nvSpPr>
        <p:spPr>
          <a:xfrm>
            <a:off x="2331720" y="1965960"/>
            <a:ext cx="1188720" cy="36576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Understand</a:t>
            </a:r>
            <a:endParaRPr lang="en-US" sz="1800" dirty="0"/>
          </a:p>
        </p:txBody>
      </p:sp>
      <p:sp>
        <p:nvSpPr>
          <p:cNvPr id="10" name="Step detail 2"/>
          <p:cNvSpPr txBox="1"/>
          <p:nvPr/>
        </p:nvSpPr>
        <p:spPr>
          <a:xfrm>
            <a:off x="2331720" y="2377440"/>
            <a:ext cx="1188720" cy="82296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words into read, write, send, delete</a:t>
            </a:r>
            <a:endParaRPr lang="en-US" sz="1200" dirty="0"/>
          </a:p>
        </p:txBody>
      </p:sp>
      <p:sp>
        <p:nvSpPr>
          <p:cNvPr id="11" name="Step box 3"/>
          <p:cNvSpPr/>
          <p:nvPr/>
        </p:nvSpPr>
        <p:spPr>
          <a:xfrm>
            <a:off x="3840480" y="1463040"/>
            <a:ext cx="1463040" cy="1828800"/>
          </a:xfrm>
          <a:prstGeom prst="roundRect">
            <a:avLst>
              <a:gd name="adj" fmla="val 6250"/>
            </a:avLst>
          </a:prstGeom>
          <a:solidFill>
            <a:schemeClr val="accent1"/>
          </a:solidFill>
          <a:ln w="12700">
            <a:solidFill>
              <a:schemeClr val="accent1"/>
            </a:solidFill>
            <a:prstDash val="solid"/>
          </a:ln>
        </p:spPr>
      </p:sp>
      <p:sp>
        <p:nvSpPr>
          <p:cNvPr id="12" name="Step number 3"/>
          <p:cNvSpPr txBox="1"/>
          <p:nvPr/>
        </p:nvSpPr>
        <p:spPr>
          <a:xfrm>
            <a:off x="3977640" y="1554480"/>
            <a:ext cx="457200" cy="365760"/>
          </a:xfrm>
          <a:prstGeom prst="rect">
            <a:avLst/>
          </a:prstGeom>
          <a:noFill/>
          <a:ln/>
        </p:spPr>
        <p:txBody>
          <a:bodyPr wrap="square" lIns="0" tIns="0" rIns="0" bIns="0" rtlCol="0" anchor="ctr"/>
          <a:lstStyle/>
          <a:p>
            <a:pPr indent="0" marL="0">
              <a:buNone/>
            </a:pPr>
            <a:r>
              <a:rPr lang="en-US" sz="1800" b="1" dirty="0">
                <a:solidFill>
                  <a:schemeClr val="accent6"/>
                </a:solidFill>
                <a:latin typeface="Calibri" pitchFamily="34" charset="0"/>
                <a:ea typeface="Calibri" pitchFamily="34" charset="-122"/>
                <a:cs typeface="Calibri" pitchFamily="34" charset="-120"/>
              </a:rPr>
              <a:t>3</a:t>
            </a:r>
            <a:endParaRPr lang="en-US" sz="1800" dirty="0"/>
          </a:p>
        </p:txBody>
      </p:sp>
      <p:sp>
        <p:nvSpPr>
          <p:cNvPr id="13" name="Step name 3"/>
          <p:cNvSpPr txBox="1"/>
          <p:nvPr/>
        </p:nvSpPr>
        <p:spPr>
          <a:xfrm>
            <a:off x="3977640" y="1965960"/>
            <a:ext cx="1188720" cy="36576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Rate</a:t>
            </a:r>
            <a:endParaRPr lang="en-US" sz="1800" dirty="0"/>
          </a:p>
        </p:txBody>
      </p:sp>
      <p:sp>
        <p:nvSpPr>
          <p:cNvPr id="14" name="Step detail 3"/>
          <p:cNvSpPr txBox="1"/>
          <p:nvPr/>
        </p:nvSpPr>
        <p:spPr>
          <a:xfrm>
            <a:off x="3977640" y="2377440"/>
            <a:ext cx="1188720" cy="82296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21 documented rules</a:t>
            </a:r>
            <a:endParaRPr lang="en-US" sz="1200" dirty="0"/>
          </a:p>
        </p:txBody>
      </p:sp>
      <p:sp>
        <p:nvSpPr>
          <p:cNvPr id="15" name="Step box 4"/>
          <p:cNvSpPr/>
          <p:nvPr/>
        </p:nvSpPr>
        <p:spPr>
          <a:xfrm>
            <a:off x="5486400" y="1463040"/>
            <a:ext cx="1463040" cy="1828800"/>
          </a:xfrm>
          <a:prstGeom prst="roundRect">
            <a:avLst>
              <a:gd name="adj" fmla="val 6250"/>
            </a:avLst>
          </a:prstGeom>
          <a:solidFill>
            <a:schemeClr val="accent5"/>
          </a:solidFill>
          <a:ln w="12700">
            <a:solidFill>
              <a:schemeClr val="accent5"/>
            </a:solidFill>
            <a:prstDash val="solid"/>
          </a:ln>
        </p:spPr>
      </p:sp>
      <p:sp>
        <p:nvSpPr>
          <p:cNvPr id="16" name="Step number 4"/>
          <p:cNvSpPr txBox="1"/>
          <p:nvPr/>
        </p:nvSpPr>
        <p:spPr>
          <a:xfrm>
            <a:off x="5623560" y="1554480"/>
            <a:ext cx="457200" cy="365760"/>
          </a:xfrm>
          <a:prstGeom prst="rect">
            <a:avLst/>
          </a:prstGeom>
          <a:noFill/>
          <a:ln/>
        </p:spPr>
        <p:txBody>
          <a:bodyPr wrap="square" lIns="0" tIns="0" rIns="0" bIns="0" rtlCol="0" anchor="ctr"/>
          <a:lstStyle/>
          <a:p>
            <a:pPr indent="0" marL="0">
              <a:buNone/>
            </a:pPr>
            <a:r>
              <a:rPr lang="en-US" sz="1800" b="1" dirty="0">
                <a:solidFill>
                  <a:schemeClr val="accent6"/>
                </a:solidFill>
                <a:latin typeface="Calibri" pitchFamily="34" charset="0"/>
                <a:ea typeface="Calibri" pitchFamily="34" charset="-122"/>
                <a:cs typeface="Calibri" pitchFamily="34" charset="-120"/>
              </a:rPr>
              <a:t>4</a:t>
            </a:r>
            <a:endParaRPr lang="en-US" sz="1800" dirty="0"/>
          </a:p>
        </p:txBody>
      </p:sp>
      <p:sp>
        <p:nvSpPr>
          <p:cNvPr id="17" name="Step name 4"/>
          <p:cNvSpPr txBox="1"/>
          <p:nvPr/>
        </p:nvSpPr>
        <p:spPr>
          <a:xfrm>
            <a:off x="5623560" y="1965960"/>
            <a:ext cx="1188720" cy="36576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Check</a:t>
            </a:r>
            <a:endParaRPr lang="en-US" sz="1800" dirty="0"/>
          </a:p>
        </p:txBody>
      </p:sp>
      <p:sp>
        <p:nvSpPr>
          <p:cNvPr id="18" name="Step detail 4"/>
          <p:cNvSpPr txBox="1"/>
          <p:nvPr/>
        </p:nvSpPr>
        <p:spPr>
          <a:xfrm>
            <a:off x="5623560" y="2377440"/>
            <a:ext cx="1188720" cy="82296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purpose and evidence</a:t>
            </a:r>
            <a:endParaRPr lang="en-US" sz="1200" dirty="0"/>
          </a:p>
        </p:txBody>
      </p:sp>
      <p:sp>
        <p:nvSpPr>
          <p:cNvPr id="19" name="Step box 5"/>
          <p:cNvSpPr/>
          <p:nvPr/>
        </p:nvSpPr>
        <p:spPr>
          <a:xfrm>
            <a:off x="7132320" y="1463040"/>
            <a:ext cx="1463040" cy="1828800"/>
          </a:xfrm>
          <a:prstGeom prst="roundRect">
            <a:avLst>
              <a:gd name="adj" fmla="val 6250"/>
            </a:avLst>
          </a:prstGeom>
          <a:solidFill>
            <a:schemeClr val="accent1"/>
          </a:solidFill>
          <a:ln w="12700">
            <a:solidFill>
              <a:schemeClr val="accent1"/>
            </a:solidFill>
            <a:prstDash val="solid"/>
          </a:ln>
        </p:spPr>
      </p:sp>
      <p:sp>
        <p:nvSpPr>
          <p:cNvPr id="20" name="Step number 5"/>
          <p:cNvSpPr txBox="1"/>
          <p:nvPr/>
        </p:nvSpPr>
        <p:spPr>
          <a:xfrm>
            <a:off x="7269480" y="1554480"/>
            <a:ext cx="457200" cy="365760"/>
          </a:xfrm>
          <a:prstGeom prst="rect">
            <a:avLst/>
          </a:prstGeom>
          <a:noFill/>
          <a:ln/>
        </p:spPr>
        <p:txBody>
          <a:bodyPr wrap="square" lIns="0" tIns="0" rIns="0" bIns="0" rtlCol="0" anchor="ctr"/>
          <a:lstStyle/>
          <a:p>
            <a:pPr indent="0" marL="0">
              <a:buNone/>
            </a:pPr>
            <a:r>
              <a:rPr lang="en-US" sz="1800" b="1" dirty="0">
                <a:solidFill>
                  <a:schemeClr val="accent6"/>
                </a:solidFill>
                <a:latin typeface="Calibri" pitchFamily="34" charset="0"/>
                <a:ea typeface="Calibri" pitchFamily="34" charset="-122"/>
                <a:cs typeface="Calibri" pitchFamily="34" charset="-120"/>
              </a:rPr>
              <a:t>5</a:t>
            </a:r>
            <a:endParaRPr lang="en-US" sz="1800" dirty="0"/>
          </a:p>
        </p:txBody>
      </p:sp>
      <p:sp>
        <p:nvSpPr>
          <p:cNvPr id="21" name="Step name 5"/>
          <p:cNvSpPr txBox="1"/>
          <p:nvPr/>
        </p:nvSpPr>
        <p:spPr>
          <a:xfrm>
            <a:off x="7269480" y="1965960"/>
            <a:ext cx="1188720" cy="36576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Explain</a:t>
            </a:r>
            <a:endParaRPr lang="en-US" sz="1800" dirty="0"/>
          </a:p>
        </p:txBody>
      </p:sp>
      <p:sp>
        <p:nvSpPr>
          <p:cNvPr id="22" name="Step detail 5"/>
          <p:cNvSpPr txBox="1"/>
          <p:nvPr/>
        </p:nvSpPr>
        <p:spPr>
          <a:xfrm>
            <a:off x="7269480" y="2377440"/>
            <a:ext cx="1188720" cy="82296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plain language</a:t>
            </a:r>
            <a:endParaRPr lang="en-US" sz="1200" dirty="0"/>
          </a:p>
        </p:txBody>
      </p:sp>
      <p:sp>
        <p:nvSpPr>
          <p:cNvPr id="23" name="Pipeline note"/>
          <p:cNvSpPr txBox="1"/>
          <p:nvPr/>
        </p:nvSpPr>
        <p:spPr>
          <a:xfrm>
            <a:off x="548640" y="3657600"/>
            <a:ext cx="8046720" cy="731520"/>
          </a:xfrm>
          <a:prstGeom prst="rect">
            <a:avLst/>
          </a:prstGeom>
          <a:noFill/>
          <a:ln/>
        </p:spPr>
        <p:txBody>
          <a:bodyPr wrap="square" lIns="0" tIns="0" rIns="0" bIns="0" rtlCol="0" anchor="t"/>
          <a:lstStyle/>
          <a:p>
            <a:pPr indent="0" marL="0">
              <a:buNone/>
            </a:pPr>
            <a:r>
              <a:rPr lang="en-US" sz="1800" dirty="0">
                <a:solidFill>
                  <a:schemeClr val="tx2"/>
                </a:solidFill>
                <a:latin typeface="Calibri" pitchFamily="34" charset="0"/>
                <a:ea typeface="Calibri" pitchFamily="34" charset="-122"/>
                <a:cs typeface="Calibri" pitchFamily="34" charset="-120"/>
              </a:rPr>
              <a:t>Sensitivity, purpose fit and evidence confidence are three separate answers. They are never blended into one score.</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Honest by design</a:t>
            </a:r>
            <a:endParaRPr lang="en-US" sz="3000" dirty="0"/>
          </a:p>
        </p:txBody>
      </p:sp>
      <p:sp>
        <p:nvSpPr>
          <p:cNvPr id="3" name="Trust card 1"/>
          <p:cNvSpPr/>
          <p:nvPr/>
        </p:nvSpPr>
        <p:spPr>
          <a:xfrm>
            <a:off x="548640" y="1325880"/>
            <a:ext cx="3931920" cy="1417320"/>
          </a:xfrm>
          <a:prstGeom prst="roundRect">
            <a:avLst>
              <a:gd name="adj" fmla="val 6452"/>
            </a:avLst>
          </a:prstGeom>
          <a:solidFill>
            <a:schemeClr val="bg2"/>
          </a:solidFill>
          <a:ln w="12700">
            <a:solidFill>
              <a:schemeClr val="bg2"/>
            </a:solidFill>
            <a:prstDash val="solid"/>
          </a:ln>
        </p:spPr>
      </p:sp>
      <p:sp>
        <p:nvSpPr>
          <p:cNvPr id="4" name="Trust icon circle 1"/>
          <p:cNvSpPr/>
          <p:nvPr/>
        </p:nvSpPr>
        <p:spPr>
          <a:xfrm>
            <a:off x="731520" y="1554480"/>
            <a:ext cx="594360" cy="594360"/>
          </a:xfrm>
          <a:prstGeom prst="ellipse">
            <a:avLst/>
          </a:prstGeom>
          <a:solidFill>
            <a:schemeClr val="accent1"/>
          </a:solidFill>
          <a:ln w="12700">
            <a:solidFill>
              <a:schemeClr val="accent1"/>
            </a:solidFill>
            <a:prstDash val="solid"/>
          </a:ln>
        </p:spPr>
      </p:sp>
      <p:sp>
        <p:nvSpPr>
          <p:cNvPr id="5" name="Circle number 1"/>
          <p:cNvSpPr txBox="1"/>
          <p:nvPr/>
        </p:nvSpPr>
        <p:spPr>
          <a:xfrm>
            <a:off x="713232" y="153619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6" name="Trust title 1"/>
          <p:cNvSpPr txBox="1"/>
          <p:nvPr/>
        </p:nvSpPr>
        <p:spPr>
          <a:xfrm>
            <a:off x="1508760" y="1508760"/>
            <a:ext cx="2834640" cy="36576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Fail-safe</a:t>
            </a:r>
            <a:endParaRPr lang="en-US" sz="1800" dirty="0"/>
          </a:p>
        </p:txBody>
      </p:sp>
      <p:sp>
        <p:nvSpPr>
          <p:cNvPr id="7" name="Trust text 1"/>
          <p:cNvSpPr txBox="1"/>
          <p:nvPr/>
        </p:nvSpPr>
        <p:spPr>
          <a:xfrm>
            <a:off x="1508760" y="1920240"/>
            <a:ext cx="283464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Unreadable or collapsed access is never shown as low risk.</a:t>
            </a:r>
            <a:endParaRPr lang="en-US" sz="1400" dirty="0"/>
          </a:p>
        </p:txBody>
      </p:sp>
      <p:sp>
        <p:nvSpPr>
          <p:cNvPr id="8" name="Trust card 2"/>
          <p:cNvSpPr/>
          <p:nvPr/>
        </p:nvSpPr>
        <p:spPr>
          <a:xfrm>
            <a:off x="4663440" y="1325880"/>
            <a:ext cx="3931920" cy="1417320"/>
          </a:xfrm>
          <a:prstGeom prst="roundRect">
            <a:avLst>
              <a:gd name="adj" fmla="val 6452"/>
            </a:avLst>
          </a:prstGeom>
          <a:solidFill>
            <a:schemeClr val="bg2"/>
          </a:solidFill>
          <a:ln w="12700">
            <a:solidFill>
              <a:schemeClr val="bg2"/>
            </a:solidFill>
            <a:prstDash val="solid"/>
          </a:ln>
        </p:spPr>
      </p:sp>
      <p:sp>
        <p:nvSpPr>
          <p:cNvPr id="9" name="Trust icon circle 2"/>
          <p:cNvSpPr/>
          <p:nvPr/>
        </p:nvSpPr>
        <p:spPr>
          <a:xfrm>
            <a:off x="4846320" y="1554480"/>
            <a:ext cx="594360" cy="594360"/>
          </a:xfrm>
          <a:prstGeom prst="ellipse">
            <a:avLst/>
          </a:prstGeom>
          <a:solidFill>
            <a:schemeClr val="accent1"/>
          </a:solidFill>
          <a:ln w="12700">
            <a:solidFill>
              <a:schemeClr val="accent1"/>
            </a:solidFill>
            <a:prstDash val="solid"/>
          </a:ln>
        </p:spPr>
      </p:sp>
      <p:sp>
        <p:nvSpPr>
          <p:cNvPr id="10" name="Circle number 2"/>
          <p:cNvSpPr txBox="1"/>
          <p:nvPr/>
        </p:nvSpPr>
        <p:spPr>
          <a:xfrm>
            <a:off x="4828032" y="153619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1" name="Trust title 2"/>
          <p:cNvSpPr txBox="1"/>
          <p:nvPr/>
        </p:nvSpPr>
        <p:spPr>
          <a:xfrm>
            <a:off x="5623560" y="1508760"/>
            <a:ext cx="2834640" cy="36576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Sensitivity is not suspicion</a:t>
            </a:r>
            <a:endParaRPr lang="en-US" sz="1800" dirty="0"/>
          </a:p>
        </p:txBody>
      </p:sp>
      <p:sp>
        <p:nvSpPr>
          <p:cNvPr id="12" name="Trust text 2"/>
          <p:cNvSpPr txBox="1"/>
          <p:nvPr/>
        </p:nvSpPr>
        <p:spPr>
          <a:xfrm>
            <a:off x="5623560" y="1920240"/>
            <a:ext cx="283464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We rate what access could expose, never intent.</a:t>
            </a:r>
            <a:endParaRPr lang="en-US" sz="1400" dirty="0"/>
          </a:p>
        </p:txBody>
      </p:sp>
      <p:sp>
        <p:nvSpPr>
          <p:cNvPr id="13" name="Trust card 3"/>
          <p:cNvSpPr/>
          <p:nvPr/>
        </p:nvSpPr>
        <p:spPr>
          <a:xfrm>
            <a:off x="548640" y="2926080"/>
            <a:ext cx="3931920" cy="1417320"/>
          </a:xfrm>
          <a:prstGeom prst="roundRect">
            <a:avLst>
              <a:gd name="adj" fmla="val 6452"/>
            </a:avLst>
          </a:prstGeom>
          <a:solidFill>
            <a:schemeClr val="bg2"/>
          </a:solidFill>
          <a:ln w="12700">
            <a:solidFill>
              <a:schemeClr val="bg2"/>
            </a:solidFill>
            <a:prstDash val="solid"/>
          </a:ln>
        </p:spPr>
      </p:sp>
      <p:sp>
        <p:nvSpPr>
          <p:cNvPr id="14" name="Trust icon circle 3"/>
          <p:cNvSpPr/>
          <p:nvPr/>
        </p:nvSpPr>
        <p:spPr>
          <a:xfrm>
            <a:off x="731520" y="3154680"/>
            <a:ext cx="594360" cy="594360"/>
          </a:xfrm>
          <a:prstGeom prst="ellipse">
            <a:avLst/>
          </a:prstGeom>
          <a:solidFill>
            <a:schemeClr val="accent1"/>
          </a:solidFill>
          <a:ln w="12700">
            <a:solidFill>
              <a:schemeClr val="accent1"/>
            </a:solidFill>
            <a:prstDash val="solid"/>
          </a:ln>
        </p:spPr>
      </p:sp>
      <p:sp>
        <p:nvSpPr>
          <p:cNvPr id="15" name="Circle number 3"/>
          <p:cNvSpPr txBox="1"/>
          <p:nvPr/>
        </p:nvSpPr>
        <p:spPr>
          <a:xfrm>
            <a:off x="713232" y="313639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6" name="Trust title 3"/>
          <p:cNvSpPr txBox="1"/>
          <p:nvPr/>
        </p:nvSpPr>
        <p:spPr>
          <a:xfrm>
            <a:off x="1508760" y="3108960"/>
            <a:ext cx="2834640" cy="36576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 invented facts</a:t>
            </a:r>
            <a:endParaRPr lang="en-US" sz="1800" dirty="0"/>
          </a:p>
        </p:txBody>
      </p:sp>
      <p:sp>
        <p:nvSpPr>
          <p:cNvPr id="17" name="Trust text 3"/>
          <p:cNvSpPr txBox="1"/>
          <p:nvPr/>
        </p:nvSpPr>
        <p:spPr>
          <a:xfrm>
            <a:off x="1508760" y="3520440"/>
            <a:ext cx="283464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An app named "Gmail" does not get Gmail access added.</a:t>
            </a:r>
            <a:endParaRPr lang="en-US" sz="1400" dirty="0"/>
          </a:p>
        </p:txBody>
      </p:sp>
      <p:sp>
        <p:nvSpPr>
          <p:cNvPr id="18" name="Trust card 4"/>
          <p:cNvSpPr/>
          <p:nvPr/>
        </p:nvSpPr>
        <p:spPr>
          <a:xfrm>
            <a:off x="4663440" y="2926080"/>
            <a:ext cx="3931920" cy="1417320"/>
          </a:xfrm>
          <a:prstGeom prst="roundRect">
            <a:avLst>
              <a:gd name="adj" fmla="val 6452"/>
            </a:avLst>
          </a:prstGeom>
          <a:solidFill>
            <a:schemeClr val="bg2"/>
          </a:solidFill>
          <a:ln w="12700">
            <a:solidFill>
              <a:schemeClr val="bg2"/>
            </a:solidFill>
            <a:prstDash val="solid"/>
          </a:ln>
        </p:spPr>
      </p:sp>
      <p:sp>
        <p:nvSpPr>
          <p:cNvPr id="19" name="Trust icon circle 4"/>
          <p:cNvSpPr/>
          <p:nvPr/>
        </p:nvSpPr>
        <p:spPr>
          <a:xfrm>
            <a:off x="4846320" y="3154680"/>
            <a:ext cx="594360" cy="594360"/>
          </a:xfrm>
          <a:prstGeom prst="ellipse">
            <a:avLst/>
          </a:prstGeom>
          <a:solidFill>
            <a:schemeClr val="accent1"/>
          </a:solidFill>
          <a:ln w="12700">
            <a:solidFill>
              <a:schemeClr val="accent1"/>
            </a:solidFill>
            <a:prstDash val="solid"/>
          </a:ln>
        </p:spPr>
      </p:sp>
      <p:sp>
        <p:nvSpPr>
          <p:cNvPr id="20" name="Circle number 4"/>
          <p:cNvSpPr txBox="1"/>
          <p:nvPr/>
        </p:nvSpPr>
        <p:spPr>
          <a:xfrm>
            <a:off x="4828032" y="313639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21" name="Trust title 4"/>
          <p:cNvSpPr txBox="1"/>
          <p:nvPr/>
        </p:nvSpPr>
        <p:spPr>
          <a:xfrm>
            <a:off x="5623560" y="3108960"/>
            <a:ext cx="2834640" cy="36576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Rules, not AI</a:t>
            </a:r>
            <a:endParaRPr lang="en-US" sz="1800" dirty="0"/>
          </a:p>
        </p:txBody>
      </p:sp>
      <p:sp>
        <p:nvSpPr>
          <p:cNvPr id="22" name="Trust text 4"/>
          <p:cNvSpPr txBox="1"/>
          <p:nvPr/>
        </p:nvSpPr>
        <p:spPr>
          <a:xfrm>
            <a:off x="5623560" y="3520440"/>
            <a:ext cx="283464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Deterministic, explainable, and fully testable.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Validated against real data, not just fixtures</a:t>
            </a:r>
            <a:endParaRPr lang="en-US" sz="3000" dirty="0"/>
          </a:p>
        </p:txBody>
      </p:sp>
      <p:graphicFrame>
        <p:nvGraphicFramePr>
          <p:cNvPr id="3" name="Chart 0" descr=""/>
          <p:cNvGraphicFramePr/>
          <p:nvPr/>
        </p:nvGraphicFramePr>
        <p:xfrm>
          <a:off x="457200" y="1188720"/>
          <a:ext cx="4023360" cy="3200400"/>
        </p:xfrm>
        <a:graphic xmlns:a="http://schemas.openxmlformats.org/drawingml/2006/main">
          <a:graphicData uri="http://schemas.openxmlformats.org/drawingml/2006/chart">
            <c:chart xmlns:c="http://schemas.openxmlformats.org/drawingml/2006/chart" r:id="rId1"/>
          </a:graphicData>
        </a:graphic>
      </p:graphicFrame>
      <p:sp>
        <p:nvSpPr>
          <p:cNvPr id="4" name="Defects heading"/>
          <p:cNvSpPr txBox="1"/>
          <p:nvPr/>
        </p:nvSpPr>
        <p:spPr>
          <a:xfrm>
            <a:off x="4754880" y="1234440"/>
            <a:ext cx="3840480" cy="36576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Defects only real data exposed</a:t>
            </a:r>
            <a:endParaRPr lang="en-US" sz="1800" dirty="0"/>
          </a:p>
        </p:txBody>
      </p:sp>
      <p:sp>
        <p:nvSpPr>
          <p:cNvPr id="5" name="Defects list"/>
          <p:cNvSpPr txBox="1"/>
          <p:nvPr/>
        </p:nvSpPr>
        <p:spPr>
          <a:xfrm>
            <a:off x="4754880" y="1691640"/>
            <a:ext cx="38404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App name read as a permission</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 "read" permission assumed, not stated</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Half of a two-part permission dropped</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"+4 more" links hiding permissions</a:t>
            </a:r>
            <a:endParaRPr lang="en-US" sz="1400" dirty="0"/>
          </a:p>
        </p:txBody>
      </p:sp>
      <p:sp>
        <p:nvSpPr>
          <p:cNvPr id="6" name="Test claim"/>
          <p:cNvSpPr txBox="1"/>
          <p:nvPr/>
        </p:nvSpPr>
        <p:spPr>
          <a:xfrm>
            <a:off x="4754880" y="3520440"/>
            <a:ext cx="3840480" cy="8229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98 automated tests pass. The same evidence gives the same result whatever the app is called.</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Your data never leaves your browser</a:t>
            </a:r>
            <a:endParaRPr lang="en-US" sz="3000" dirty="0"/>
          </a:p>
        </p:txBody>
      </p:sp>
      <p:sp>
        <p:nvSpPr>
          <p:cNvPr id="3" name="Privacy icon circle 1"/>
          <p:cNvSpPr/>
          <p:nvPr/>
        </p:nvSpPr>
        <p:spPr>
          <a:xfrm>
            <a:off x="548640" y="1280160"/>
            <a:ext cx="548640" cy="548640"/>
          </a:xfrm>
          <a:prstGeom prst="ellipse">
            <a:avLst/>
          </a:prstGeom>
          <a:solidFill>
            <a:schemeClr val="accent1"/>
          </a:solidFill>
          <a:ln w="12700">
            <a:solidFill>
              <a:schemeClr val="accent1"/>
            </a:solidFill>
            <a:prstDash val="solid"/>
          </a:ln>
        </p:spPr>
      </p:sp>
      <p:sp>
        <p:nvSpPr>
          <p:cNvPr id="4" name="Circle number 1"/>
          <p:cNvSpPr txBox="1"/>
          <p:nvPr/>
        </p:nvSpPr>
        <p:spPr>
          <a:xfrm>
            <a:off x="521208" y="1252728"/>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5" name="Privacy title 1"/>
          <p:cNvSpPr txBox="1"/>
          <p:nvPr/>
        </p:nvSpPr>
        <p:spPr>
          <a:xfrm>
            <a:off x="1325880" y="1280160"/>
            <a:ext cx="3566160" cy="27432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Local only</a:t>
            </a:r>
            <a:endParaRPr lang="en-US" sz="1800" dirty="0"/>
          </a:p>
        </p:txBody>
      </p:sp>
      <p:sp>
        <p:nvSpPr>
          <p:cNvPr id="6" name="Privacy text 1"/>
          <p:cNvSpPr txBox="1"/>
          <p:nvPr/>
        </p:nvSpPr>
        <p:spPr>
          <a:xfrm>
            <a:off x="1325880" y="1572768"/>
            <a:ext cx="356616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Scan results stay in the extension's storage.</a:t>
            </a:r>
            <a:endParaRPr lang="en-US" sz="1400" dirty="0"/>
          </a:p>
        </p:txBody>
      </p:sp>
      <p:sp>
        <p:nvSpPr>
          <p:cNvPr id="7" name="Privacy icon circle 2"/>
          <p:cNvSpPr/>
          <p:nvPr/>
        </p:nvSpPr>
        <p:spPr>
          <a:xfrm>
            <a:off x="548640" y="2148840"/>
            <a:ext cx="548640" cy="548640"/>
          </a:xfrm>
          <a:prstGeom prst="ellipse">
            <a:avLst/>
          </a:prstGeom>
          <a:solidFill>
            <a:schemeClr val="accent1"/>
          </a:solidFill>
          <a:ln w="12700">
            <a:solidFill>
              <a:schemeClr val="accent1"/>
            </a:solidFill>
            <a:prstDash val="solid"/>
          </a:ln>
        </p:spPr>
      </p:sp>
      <p:sp>
        <p:nvSpPr>
          <p:cNvPr id="8" name="Circle number 2"/>
          <p:cNvSpPr txBox="1"/>
          <p:nvPr/>
        </p:nvSpPr>
        <p:spPr>
          <a:xfrm>
            <a:off x="521208" y="2121408"/>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9" name="Privacy title 2"/>
          <p:cNvSpPr txBox="1"/>
          <p:nvPr/>
        </p:nvSpPr>
        <p:spPr>
          <a:xfrm>
            <a:off x="1325880" y="2148840"/>
            <a:ext cx="3566160" cy="27432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You choose the accounts</a:t>
            </a:r>
            <a:endParaRPr lang="en-US" sz="1800" dirty="0"/>
          </a:p>
        </p:txBody>
      </p:sp>
      <p:sp>
        <p:nvSpPr>
          <p:cNvPr id="10" name="Privacy text 2"/>
          <p:cNvSpPr txBox="1"/>
          <p:nvPr/>
        </p:nvSpPr>
        <p:spPr>
          <a:xfrm>
            <a:off x="1325880" y="2441448"/>
            <a:ext cx="356616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Each account is verified before its apps are read.</a:t>
            </a:r>
            <a:endParaRPr lang="en-US" sz="1400" dirty="0"/>
          </a:p>
        </p:txBody>
      </p:sp>
      <p:sp>
        <p:nvSpPr>
          <p:cNvPr id="11" name="Privacy icon circle 3"/>
          <p:cNvSpPr/>
          <p:nvPr/>
        </p:nvSpPr>
        <p:spPr>
          <a:xfrm>
            <a:off x="548640" y="3017520"/>
            <a:ext cx="548640" cy="548640"/>
          </a:xfrm>
          <a:prstGeom prst="ellipse">
            <a:avLst/>
          </a:prstGeom>
          <a:solidFill>
            <a:schemeClr val="accent1"/>
          </a:solidFill>
          <a:ln w="12700">
            <a:solidFill>
              <a:schemeClr val="accent1"/>
            </a:solidFill>
            <a:prstDash val="solid"/>
          </a:ln>
        </p:spPr>
      </p:sp>
      <p:sp>
        <p:nvSpPr>
          <p:cNvPr id="12" name="Circle number 3"/>
          <p:cNvSpPr txBox="1"/>
          <p:nvPr/>
        </p:nvSpPr>
        <p:spPr>
          <a:xfrm>
            <a:off x="521208" y="2990088"/>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3" name="Privacy title 3"/>
          <p:cNvSpPr txBox="1"/>
          <p:nvPr/>
        </p:nvSpPr>
        <p:spPr>
          <a:xfrm>
            <a:off x="1325880" y="3017520"/>
            <a:ext cx="3566160" cy="27432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Safe sharing</a:t>
            </a:r>
            <a:endParaRPr lang="en-US" sz="1800" dirty="0"/>
          </a:p>
        </p:txBody>
      </p:sp>
      <p:sp>
        <p:nvSpPr>
          <p:cNvPr id="14" name="Privacy text 3"/>
          <p:cNvSpPr txBox="1"/>
          <p:nvPr/>
        </p:nvSpPr>
        <p:spPr>
          <a:xfrm>
            <a:off x="1325880" y="3310128"/>
            <a:ext cx="356616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An export option hides app names and emails.</a:t>
            </a:r>
            <a:endParaRPr lang="en-US" sz="1400" dirty="0"/>
          </a:p>
        </p:txBody>
      </p:sp>
      <p:sp>
        <p:nvSpPr>
          <p:cNvPr id="15" name="Privacy icon circle 4"/>
          <p:cNvSpPr/>
          <p:nvPr/>
        </p:nvSpPr>
        <p:spPr>
          <a:xfrm>
            <a:off x="548640" y="3886200"/>
            <a:ext cx="548640" cy="548640"/>
          </a:xfrm>
          <a:prstGeom prst="ellipse">
            <a:avLst/>
          </a:prstGeom>
          <a:solidFill>
            <a:schemeClr val="accent1"/>
          </a:solidFill>
          <a:ln w="12700">
            <a:solidFill>
              <a:schemeClr val="accent1"/>
            </a:solidFill>
            <a:prstDash val="solid"/>
          </a:ln>
        </p:spPr>
      </p:sp>
      <p:sp>
        <p:nvSpPr>
          <p:cNvPr id="16" name="Circle number 4"/>
          <p:cNvSpPr txBox="1"/>
          <p:nvPr/>
        </p:nvSpPr>
        <p:spPr>
          <a:xfrm>
            <a:off x="521208" y="3858768"/>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17" name="Privacy title 4"/>
          <p:cNvSpPr txBox="1"/>
          <p:nvPr/>
        </p:nvSpPr>
        <p:spPr>
          <a:xfrm>
            <a:off x="1325880" y="3886200"/>
            <a:ext cx="3566160" cy="27432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One-click delete</a:t>
            </a:r>
            <a:endParaRPr lang="en-US" sz="1800" dirty="0"/>
          </a:p>
        </p:txBody>
      </p:sp>
      <p:sp>
        <p:nvSpPr>
          <p:cNvPr id="18" name="Privacy text 4"/>
          <p:cNvSpPr txBox="1"/>
          <p:nvPr/>
        </p:nvSpPr>
        <p:spPr>
          <a:xfrm>
            <a:off x="1325880" y="4178808"/>
            <a:ext cx="356616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Remove everything saved with a single button.</a:t>
            </a:r>
            <a:endParaRPr lang="en-US" sz="1400" dirty="0"/>
          </a:p>
        </p:txBody>
      </p:sp>
      <p:sp>
        <p:nvSpPr>
          <p:cNvPr id="19" name="Zero card"/>
          <p:cNvSpPr/>
          <p:nvPr/>
        </p:nvSpPr>
        <p:spPr>
          <a:xfrm>
            <a:off x="5394960" y="1325880"/>
            <a:ext cx="3200400" cy="2926080"/>
          </a:xfrm>
          <a:prstGeom prst="roundRect">
            <a:avLst>
              <a:gd name="adj" fmla="val 3750"/>
            </a:avLst>
          </a:prstGeom>
          <a:solidFill>
            <a:schemeClr val="tx2"/>
          </a:solidFill>
          <a:ln w="12700">
            <a:solidFill>
              <a:schemeClr val="tx2"/>
            </a:solidFill>
            <a:prstDash val="solid"/>
          </a:ln>
        </p:spPr>
      </p:sp>
      <p:sp>
        <p:nvSpPr>
          <p:cNvPr id="20" name="Zero number"/>
          <p:cNvSpPr txBox="1"/>
          <p:nvPr/>
        </p:nvSpPr>
        <p:spPr>
          <a:xfrm>
            <a:off x="5394960" y="1463040"/>
            <a:ext cx="3200400" cy="1371600"/>
          </a:xfrm>
          <a:prstGeom prst="rect">
            <a:avLst/>
          </a:prstGeom>
          <a:noFill/>
          <a:ln/>
        </p:spPr>
        <p:txBody>
          <a:bodyPr wrap="square" lIns="0" tIns="0" rIns="0" bIns="0" rtlCol="0" anchor="ctr"/>
          <a:lstStyle/>
          <a:p>
            <a:pPr algn="ctr" indent="0" marL="0">
              <a:buNone/>
            </a:pPr>
            <a:r>
              <a:rPr lang="en-US" sz="9600" b="1" dirty="0">
                <a:solidFill>
                  <a:schemeClr val="accent6"/>
                </a:solidFill>
                <a:latin typeface="Cambria" pitchFamily="34" charset="0"/>
                <a:ea typeface="Cambria" pitchFamily="34" charset="-122"/>
                <a:cs typeface="Cambria" pitchFamily="34" charset="-120"/>
              </a:rPr>
              <a:t>0</a:t>
            </a:r>
            <a:endParaRPr lang="en-US" sz="9600" dirty="0"/>
          </a:p>
        </p:txBody>
      </p:sp>
      <p:sp>
        <p:nvSpPr>
          <p:cNvPr id="21" name="Zero label"/>
          <p:cNvSpPr txBox="1"/>
          <p:nvPr/>
        </p:nvSpPr>
        <p:spPr>
          <a:xfrm>
            <a:off x="5669280" y="2926080"/>
            <a:ext cx="2651760" cy="1097280"/>
          </a:xfrm>
          <a:prstGeom prst="rect">
            <a:avLst/>
          </a:prstGeom>
          <a:noFill/>
          <a:ln/>
        </p:spPr>
        <p:txBody>
          <a:bodyPr wrap="square" lIns="0" tIns="0" rIns="0" bIns="0" rtlCol="0" anchor="t"/>
          <a:lstStyle/>
          <a:p>
            <a:pPr algn="ctr" indent="0" marL="0">
              <a:buNone/>
            </a:pPr>
            <a:r>
              <a:rPr lang="en-US" sz="1400" dirty="0">
                <a:solidFill>
                  <a:schemeClr val="bg1"/>
                </a:solidFill>
                <a:latin typeface="Calibri" pitchFamily="34" charset="0"/>
                <a:ea typeface="Calibri" pitchFamily="34" charset="-122"/>
                <a:cs typeface="Calibri" pitchFamily="34" charset="-120"/>
              </a:rPr>
              <a:t>network calls, analytics or telemetry in the code. A test scans the source to check.</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Honest limits and what comes next</a:t>
            </a:r>
            <a:endParaRPr lang="en-US" sz="3000" dirty="0"/>
          </a:p>
        </p:txBody>
      </p:sp>
      <p:sp>
        <p:nvSpPr>
          <p:cNvPr id="3" name="Limits card"/>
          <p:cNvSpPr/>
          <p:nvPr/>
        </p:nvSpPr>
        <p:spPr>
          <a:xfrm>
            <a:off x="548640" y="1280160"/>
            <a:ext cx="3931920" cy="3108960"/>
          </a:xfrm>
          <a:prstGeom prst="roundRect">
            <a:avLst>
              <a:gd name="adj" fmla="val 2941"/>
            </a:avLst>
          </a:prstGeom>
          <a:solidFill>
            <a:schemeClr val="bg2"/>
          </a:solidFill>
          <a:ln w="12700">
            <a:solidFill>
              <a:schemeClr val="bg2"/>
            </a:solidFill>
            <a:prstDash val="solid"/>
          </a:ln>
        </p:spPr>
      </p:sp>
      <p:sp>
        <p:nvSpPr>
          <p:cNvPr id="4" name="Limits heading"/>
          <p:cNvSpPr txBox="1"/>
          <p:nvPr/>
        </p:nvSpPr>
        <p:spPr>
          <a:xfrm>
            <a:off x="777240" y="1417320"/>
            <a:ext cx="3474720" cy="365760"/>
          </a:xfrm>
          <a:prstGeom prst="rect">
            <a:avLst/>
          </a:prstGeom>
          <a:noFill/>
          <a:ln/>
        </p:spPr>
        <p:txBody>
          <a:bodyPr wrap="square" lIns="0" tIns="0" rIns="0" bIns="0" rtlCol="0" anchor="ctr"/>
          <a:lstStyle/>
          <a:p>
            <a:pPr indent="0" marL="0">
              <a:buNone/>
            </a:pPr>
            <a:r>
              <a:rPr lang="en-US" sz="1800" b="1" dirty="0">
                <a:solidFill>
                  <a:schemeClr val="accent3"/>
                </a:solidFill>
                <a:latin typeface="Calibri" pitchFamily="34" charset="0"/>
                <a:ea typeface="Calibri" pitchFamily="34" charset="-122"/>
                <a:cs typeface="Calibri" pitchFamily="34" charset="-120"/>
              </a:rPr>
              <a:t>Known limits</a:t>
            </a:r>
            <a:endParaRPr lang="en-US" sz="1800" dirty="0"/>
          </a:p>
        </p:txBody>
      </p:sp>
      <p:sp>
        <p:nvSpPr>
          <p:cNvPr id="5" name="Limits list"/>
          <p:cNvSpPr txBox="1"/>
          <p:nvPr/>
        </p:nvSpPr>
        <p:spPr>
          <a:xfrm>
            <a:off x="777240" y="1874520"/>
            <a:ext cx="347472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No official API: we read the page, so layout changes need rule updates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Validated on one account so far</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Details pages behind "+N more" are read cautiously</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Desktop browsers only</a:t>
            </a:r>
            <a:endParaRPr lang="en-US" sz="1400" dirty="0"/>
          </a:p>
        </p:txBody>
      </p:sp>
      <p:sp>
        <p:nvSpPr>
          <p:cNvPr id="6" name="Next card"/>
          <p:cNvSpPr/>
          <p:nvPr/>
        </p:nvSpPr>
        <p:spPr>
          <a:xfrm>
            <a:off x="4663440" y="1280160"/>
            <a:ext cx="3931920" cy="3108960"/>
          </a:xfrm>
          <a:prstGeom prst="roundRect">
            <a:avLst>
              <a:gd name="adj" fmla="val 2941"/>
            </a:avLst>
          </a:prstGeom>
          <a:solidFill>
            <a:schemeClr val="bg2"/>
          </a:solidFill>
          <a:ln w="12700">
            <a:solidFill>
              <a:schemeClr val="bg2"/>
            </a:solidFill>
            <a:prstDash val="solid"/>
          </a:ln>
        </p:spPr>
      </p:sp>
      <p:sp>
        <p:nvSpPr>
          <p:cNvPr id="7" name="Next heading"/>
          <p:cNvSpPr txBox="1"/>
          <p:nvPr/>
        </p:nvSpPr>
        <p:spPr>
          <a:xfrm>
            <a:off x="4892040" y="1417320"/>
            <a:ext cx="34747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Next</a:t>
            </a:r>
            <a:endParaRPr lang="en-US" sz="1800" dirty="0"/>
          </a:p>
        </p:txBody>
      </p:sp>
      <p:sp>
        <p:nvSpPr>
          <p:cNvPr id="8" name="Next list"/>
          <p:cNvSpPr txBox="1"/>
          <p:nvPr/>
        </p:nvSpPr>
        <p:spPr>
          <a:xfrm>
            <a:off x="4892040" y="1874520"/>
            <a:ext cx="347472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Validate on more accounts and layouts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Chrome Web Store release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Guided, one-click path to Google's revoke screen</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Optional Workspace admin view of an organisation's apps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2801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Know what you have shared</a:t>
            </a:r>
            <a:endParaRPr lang="en-US" sz="4400" dirty="0"/>
          </a:p>
        </p:txBody>
      </p:sp>
      <p:sp>
        <p:nvSpPr>
          <p:cNvPr id="3" name="Closing line"/>
          <p:cNvSpPr txBox="1"/>
          <p:nvPr/>
        </p:nvSpPr>
        <p:spPr>
          <a:xfrm>
            <a:off x="640080" y="2926080"/>
            <a:ext cx="7680960" cy="457200"/>
          </a:xfrm>
          <a:prstGeom prst="rect">
            <a:avLst/>
          </a:prstGeom>
          <a:noFill/>
          <a:ln/>
        </p:spPr>
        <p:txBody>
          <a:bodyPr wrap="square" lIns="0" tIns="0" rIns="0" bIns="0" rtlCol="0" anchor="ctr"/>
          <a:lstStyle/>
          <a:p>
            <a:pPr indent="0" marL="0">
              <a:buNone/>
            </a:pPr>
            <a:r>
              <a:rPr lang="en-US" sz="2000" dirty="0">
                <a:solidFill>
                  <a:schemeClr val="accent6"/>
                </a:solidFill>
                <a:latin typeface="Calibri" pitchFamily="34" charset="0"/>
                <a:ea typeface="Calibri" pitchFamily="34" charset="-122"/>
                <a:cs typeface="Calibri" pitchFamily="34" charset="-120"/>
              </a:rPr>
              <a:t>Open source (MIT)  |  Local-first  |  Tested on real data</a:t>
            </a:r>
            <a:endParaRPr lang="en-US" sz="2000" dirty="0"/>
          </a:p>
        </p:txBody>
      </p:sp>
      <p:sp>
        <p:nvSpPr>
          <p:cNvPr id="4" name="Closing statement"/>
          <p:cNvSpPr txBox="1"/>
          <p:nvPr/>
        </p:nvSpPr>
        <p:spPr>
          <a:xfrm>
            <a:off x="640080" y="3566160"/>
            <a:ext cx="6949440" cy="822960"/>
          </a:xfrm>
          <a:prstGeom prst="rect">
            <a:avLst/>
          </a:prstGeom>
          <a:noFill/>
          <a:ln/>
        </p:spPr>
        <p:txBody>
          <a:bodyPr wrap="square" lIns="0" tIns="0" rIns="0" bIns="0" rtlCol="0" anchor="t"/>
          <a:lstStyle/>
          <a:p>
            <a:pPr indent="0" marL="0">
              <a:buNone/>
            </a:pPr>
            <a:r>
              <a:rPr lang="en-US" sz="1600" i="1" dirty="0">
                <a:solidFill>
                  <a:schemeClr val="bg2"/>
                </a:solidFill>
                <a:latin typeface="Calibri" pitchFamily="34" charset="0"/>
                <a:ea typeface="Calibri" pitchFamily="34" charset="-122"/>
                <a:cs typeface="Calibri" pitchFamily="34" charset="-120"/>
              </a:rPr>
              <a:t>Sensitivity is not suspicion. We explain what access could expose, and leave the decision to you.</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Auth Analyzer">
  <a:themeElements>
    <a:clrScheme name="Auth Analyzer">
      <a:dk1>
        <a:srgbClr val="1B2431"/>
      </a:dk1>
      <a:lt1>
        <a:srgbClr val="FFFFFF"/>
      </a:lt1>
      <a:dk2>
        <a:srgbClr val="0F2A43"/>
      </a:dk2>
      <a:lt2>
        <a:srgbClr val="EEF3F8"/>
      </a:lt2>
      <a:accent1>
        <a:srgbClr val="0E7C86"/>
      </a:accent1>
      <a:accent2>
        <a:srgbClr val="E0A100"/>
      </a:accent2>
      <a:accent3>
        <a:srgbClr val="C0392B"/>
      </a:accent3>
      <a:accent4>
        <a:srgbClr val="2E8B57"/>
      </a:accent4>
      <a:accent5>
        <a:srgbClr val="5B6B7F"/>
      </a:accent5>
      <a:accent6>
        <a:srgbClr val="7FD1D8"/>
      </a:accent6>
      <a:hlink>
        <a:srgbClr val="0E7C86"/>
      </a:hlink>
      <a:folHlink>
        <a:srgbClr val="5B6B7F"/>
      </a:folHlink>
    </a:clrScheme>
    <a:fontScheme name="Auth Analyz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Auth Analyzer - ExaThon India 2026</dc:title>
  <dc:subject>PptxGenJS Presentation</dc:subject>
  <dc:creator>Auth Analyzer</dc:creator>
  <cp:lastModifiedBy>Auth Analyzer</cp:lastModifiedBy>
  <cp:revision>1</cp:revision>
  <dcterms:created xsi:type="dcterms:W3CDTF">2026-10-24T13:55:50Z</dcterms:created>
  <dcterms:modified xsi:type="dcterms:W3CDTF">2026-10-24T13:55:50Z</dcterms:modified>
</cp:coreProperties>
</file>